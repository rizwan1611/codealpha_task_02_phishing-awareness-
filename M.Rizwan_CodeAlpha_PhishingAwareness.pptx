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81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47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9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415A77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E7EF"/>
                </a:solidFill>
              </a:rPr>
              <a:t>CODEALPHA CYBER SECURITY INTERNSHIP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63946"/>
                </a:solidFill>
              </a:rPr>
              <a:t>Recognize the Hook Before You Bite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5852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E7EF"/>
                </a:solidFill>
              </a:rPr>
              <a:t>Prepared by: </a:t>
            </a:r>
            <a:r>
              <a:rPr lang="en-US" sz="1300" dirty="0">
                <a:solidFill>
                  <a:srgbClr val="E0E7EF"/>
                </a:solidFill>
              </a:rPr>
              <a:t>Muhammad Rizwan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0E7EF"/>
                </a:solidFill>
              </a:rPr>
              <a:t>Student ID: </a:t>
            </a:r>
            <a:r>
              <a:rPr lang="en-US" sz="1300" dirty="0">
                <a:solidFill>
                  <a:srgbClr val="E0E7EF"/>
                </a:solidFill>
              </a:rPr>
              <a:t>CA/DF1/172886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 engineering attack where someone impersonates a trusted source — a bank, coworker, or well-known company — to trick you into revealing sensitive information, clicking a malicious link, or installing malware.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comes from “fishing” — attackers cast bait (a fake email, text, or website) and wait for someone to bite.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40880" y="173736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1B263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06640" y="214884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835" y="233903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3017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91%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740664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E7EF"/>
                </a:solidFill>
              </a:rPr>
              <a:t>of successful cyberattacks start with a phishing email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406640" y="4892040"/>
            <a:ext cx="3840480" cy="0"/>
          </a:xfrm>
          <a:prstGeom prst="line">
            <a:avLst/>
          </a:prstGeom>
          <a:noFill/>
          <a:ln w="12700">
            <a:solidFill>
              <a:srgbClr val="415A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406640" y="50749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E7EF"/>
                </a:solidFill>
              </a:rPr>
              <a:t>Phishing remains the #1 initial access method used by attackers worldwide, according to industry breach reports.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ENEMY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Email Phishing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Mass, generic emails sent to thousands of people hoping a few click.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75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Spear Phishing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Highly targeted, personalized attack aimed at one specific person or role.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6676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51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9280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Whaling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66760" y="25603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Spear phishing aimed at executives or high-value targets (the “big fish”).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Smishing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Phishing delivered via SMS text messages, often with urgent fake alerts.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2759" y="42455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Vishing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Voice phishing — phone calls impersonating banks, IT support, or officials.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6676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519" y="42455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Clone Phishing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66760" y="47548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legitimate email is copied and resent with malicious links swapped in.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SIGNS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822399"/>
            <a:ext cx="241402" cy="2414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822399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Mismatched sender address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88720" y="202082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Display name looks real, but the actual email domain is misspelled or unrelated (e.g. @paypa1-secure.com).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1822399"/>
            <a:ext cx="241402" cy="24140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39" y="182239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5160" y="166420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Urgency or threats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95160" y="202082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“Your account will be suspended in 24 hours” — pressure is designed to stop you thinking.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331159"/>
            <a:ext cx="241402" cy="24140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331159"/>
            <a:ext cx="241402" cy="2414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8872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Generic greeting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1188720" y="352958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“Dear Customer” instead of your actual name — real companies usually personalize.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6355080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839" y="3331159"/>
            <a:ext cx="241402" cy="241402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6355080" y="320040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839" y="3331159"/>
            <a:ext cx="241402" cy="24140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95160" y="31729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Spelling &amp; grammar errors</a:t>
            </a:r>
            <a:endParaRPr lang="en-US" sz="1350" dirty="0"/>
          </a:p>
        </p:txBody>
      </p:sp>
      <p:sp>
        <p:nvSpPr>
          <p:cNvPr id="27" name="Text 17"/>
          <p:cNvSpPr/>
          <p:nvPr/>
        </p:nvSpPr>
        <p:spPr>
          <a:xfrm>
            <a:off x="6995160" y="352958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Awkward phrasing or typos that a legitimate organization's emails wouldn't have.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4839919"/>
            <a:ext cx="241402" cy="241402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4839919"/>
            <a:ext cx="241402" cy="24140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188720" y="46817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Suspicious links</a:t>
            </a:r>
            <a:endParaRPr lang="en-US" sz="1350" dirty="0"/>
          </a:p>
        </p:txBody>
      </p:sp>
      <p:sp>
        <p:nvSpPr>
          <p:cNvPr id="33" name="Text 21"/>
          <p:cNvSpPr/>
          <p:nvPr/>
        </p:nvSpPr>
        <p:spPr>
          <a:xfrm>
            <a:off x="1188720" y="503834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Hover over links — the visible text and the actual destination URL don't match.</a:t>
            </a:r>
            <a:endParaRPr lang="en-US" sz="1050" dirty="0"/>
          </a:p>
        </p:txBody>
      </p:sp>
      <p:sp>
        <p:nvSpPr>
          <p:cNvPr id="34" name="Shape 22"/>
          <p:cNvSpPr/>
          <p:nvPr/>
        </p:nvSpPr>
        <p:spPr>
          <a:xfrm>
            <a:off x="6355080" y="47091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839" y="4839919"/>
            <a:ext cx="241402" cy="241402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6355080" y="4709160"/>
            <a:ext cx="502920" cy="502920"/>
          </a:xfrm>
          <a:prstGeom prst="ellipse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5839" y="4839919"/>
            <a:ext cx="241402" cy="241402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6995160" y="46817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Unexpected attachments</a:t>
            </a:r>
            <a:endParaRPr lang="en-US" sz="1350" dirty="0"/>
          </a:p>
        </p:txBody>
      </p:sp>
      <p:sp>
        <p:nvSpPr>
          <p:cNvPr id="39" name="Text 25"/>
          <p:cNvSpPr/>
          <p:nvPr/>
        </p:nvSpPr>
        <p:spPr>
          <a:xfrm>
            <a:off x="6995160" y="5038344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Invoices, “voicemails,” or documents you never requested, often .zip or .exe files.</a:t>
            </a:r>
            <a:endParaRPr lang="en-US" sz="1050" dirty="0"/>
          </a:p>
        </p:txBody>
      </p:sp>
      <p:sp>
        <p:nvSpPr>
          <p:cNvPr id="40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LOOK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Phishing Email, Annotated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7DEE6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766560" cy="4572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New Message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PayPa1 Security &lt;security@paypa1-alerts-secure.com&gt;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6217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Dear Customer,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We detected unusual activity on your account. To avoid permanent suspension, you must verify your identity immediately by clicking the secure link below.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[ Verify My Account Now 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Failure to respond within 24 hours will result in permanent account closure.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Thank you,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</a:rPr>
              <a:t>PayPal Security Team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43800" y="181051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167335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</a:rPr>
              <a:t>Domain is “paypa1-alerts-secure.com” — not paypal.com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258775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818120" y="24505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</a:rPr>
              <a:t>“Dear Customer” — no personalization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336499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3227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</a:rPr>
              <a:t>Manufactured urgency: “24 hours” threat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4142232"/>
            <a:ext cx="146304" cy="146304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4005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63B"/>
                </a:solidFill>
              </a:rPr>
              <a:t>Generic button link, not a real PayPal URL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43800" y="50749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Every one of these is a classic red flag — spotting even one should make you pause before clicking.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INBOX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Recognize Fake Websites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594360" cy="5943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4" y="21662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29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Check the URL carefully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Look for misspelled domains (amaz0n.com), extra words, or unusual TLDs (.xyz, .top).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011680"/>
            <a:ext cx="594360" cy="5943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494" y="21662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29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The padlock isn't proof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HTTPS just means the connection is encrypted — attackers can get certificates too.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94" y="45436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407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Poor design &amp; broken links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Low-resolution logos, odd fonts, or navigation links that go nowhere.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148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389120"/>
            <a:ext cx="594360" cy="59436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2494" y="454365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407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B"/>
                </a:solidFill>
              </a:rPr>
              <a:t>Unexpected credential prompts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37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Being asked to log in again after clicking a link you didn't expect.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E7EF"/>
                </a:solidFill>
              </a:rPr>
              <a:t>Phishing succeeds by exploiting psychology, not just technology.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4167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Authority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Impersonating a boss, IT admin, or law enforcement to demand compliance.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53712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471" y="24167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Urgency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53712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Creating a false deadline so you act before you think.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20574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0184" y="2286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943" y="241675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29260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Scarcity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0184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“Only 2 spots left” or “limited-time offer” to trigger fast decisions.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423367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77240" y="4462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593031"/>
            <a:ext cx="241402" cy="24140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102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Familiarity / Trust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54681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Posing as a known coworker, friend, or brand you already trust.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325112" y="423367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53712" y="4462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4471" y="4593031"/>
            <a:ext cx="241402" cy="24140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102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Fear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4553712" y="54681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Threatening legal trouble, fines, or account loss to provoke panic.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8101584" y="4233672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415A77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0184" y="446227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943" y="4593031"/>
            <a:ext cx="241402" cy="24140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0184" y="510235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Curiosity / Baiting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330184" y="54681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0E7EF"/>
                </a:solidFill>
              </a:rPr>
              <a:t>“See who viewed your profile” — tempting clicks with curiosity.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Phishing Incidents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118872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3946"/>
                </a:solidFill>
              </a:rPr>
              <a:t>$100M+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</a:rPr>
              <a:t>Google &amp; Facebook Vendor Scam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Between 2013-2015, a scammer impersonating a hardware vendor tricked both companies' finance teams into wiring over $100 million through fake invoices.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16552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16552" y="1737360"/>
            <a:ext cx="3611880" cy="118872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16552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3946"/>
                </a:solidFill>
              </a:rPr>
              <a:t>130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90872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</a:rPr>
              <a:t>Twitter 2020 Bitcoin Hack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90872" y="3886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Attackers used phone-based spear phishing (vishing) to trick Twitter employees into handing over internal admin tool access, compromising 130 high-profile accounts.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84464" y="17373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84464" y="1737360"/>
            <a:ext cx="3611880" cy="1188720"/>
          </a:xfrm>
          <a:prstGeom prst="rect">
            <a:avLst/>
          </a:prstGeom>
          <a:solidFill>
            <a:srgbClr val="1B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84464" y="173736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63946"/>
                </a:solidFill>
              </a:rPr>
              <a:t>40M+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58784" y="3108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</a:rPr>
              <a:t>Target Vendor Breach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58784" y="3886200"/>
            <a:ext cx="3063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Attackers phished a third-party HVAC vendor to steal network credentials, ultimately compromising 40 million customers' payment card data.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Avoid Falling Victim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Verify the sender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Check the full email address, not just the display name, before trusting it.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479" y="2050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92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Hover before you click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Preview the actual URL destination — don't trust the link text alone.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959" y="2050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18928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Enable MFA everywhere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256032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Multi-factor authentication stops most account takeovers even if a password leaks.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42455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Use a password manager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7548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passwords per site mean one phished password can't unlock everything.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8479" y="42455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Keep software updated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47548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Patches close vulnerabilities that phishing payloads try to exploit.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58200" y="4114800"/>
            <a:ext cx="502920" cy="502920"/>
          </a:xfrm>
          <a:prstGeom prst="ellipse">
            <a:avLst/>
          </a:prstGeom>
          <a:solidFill>
            <a:srgbClr val="415A7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8959" y="42455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40873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63B"/>
                </a:solidFill>
              </a:rPr>
              <a:t>Report suspicious messages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475488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your organization's “Report Phishing” button — it protects everyone.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CONTROL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Think You've Been Phished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0E7EF"/>
                </a:solidFill>
              </a:rPr>
              <a:t>Mistakes happen — acting fast limits the damage. Follow these steps immediately: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Change your password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7EF"/>
                </a:solidFill>
              </a:rPr>
              <a:t>Immediately update the compromised account's password, and any account reusing 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0692" y="244144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Enable / check MFA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342900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7EF"/>
                </a:solidFill>
              </a:rPr>
              <a:t>Turn on multi-factor authentication if it wasn't already, and review active sessions.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5332" y="244144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Notify IT / security team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42900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7EF"/>
                </a:solidFill>
              </a:rPr>
              <a:t>Report it right away so they can monitor for further compromise or lateral movement.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9972" y="2441448"/>
            <a:ext cx="0" cy="0"/>
          </a:xfrm>
          <a:prstGeom prst="line">
            <a:avLst/>
          </a:prstGeom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2560" y="21945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525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52560" y="28346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Scan for malware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52560" y="3429000"/>
            <a:ext cx="2606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0E7EF"/>
                </a:solidFill>
              </a:rPr>
              <a:t>Run a full antivirus/endpoint scan in case an attachment or link installed something.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Phishing Quiz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63B"/>
                </a:solidFill>
              </a:rPr>
              <a:t>This training pairs with a companion interactive HTML quiz module — practice spotting red flags in realistic phishing scenarios and get instant feedback with an explanation for every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386938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735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</a:rPr>
              <a:t>Multiple-choice scenario questions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3935578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38221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</a:rPr>
              <a:t>Instant feedback with explanations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484218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43708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</a:rPr>
              <a:t>Score tracking and a final results summary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49377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5032858"/>
            <a:ext cx="175565" cy="1755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49194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B"/>
                </a:solidFill>
              </a:rPr>
              <a:t>Runs entirely in the browser — no install needed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File: phishing_quiz.html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7498080" y="17373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1B263B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9006840" y="2286000"/>
            <a:ext cx="1097280" cy="10972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133" y="2571293"/>
            <a:ext cx="526694" cy="52669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980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Quiz Yourself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7772400" y="41148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7EF"/>
                </a:solidFill>
              </a:rPr>
              <a:t>Open phishing_quiz.html in any browser to begin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83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Phishing is the #1 way attackers get into networks — it targets people, not just systems.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2862072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62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791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Slow down when a message creates urgency, fear, or too-good-to-be-true offers.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758184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57530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Always verify sender addresses and hover over links before clicking.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4654296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654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47141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Use MFA and unique passwords so one phished credential can't compromise everything.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5550408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550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53675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3B"/>
                </a:solidFill>
              </a:rPr>
              <a:t>When in doubt, report it — you might be the first line of defense for your whole team.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415A77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45836" y="1463040"/>
            <a:ext cx="1097280" cy="109728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129" y="1748333"/>
            <a:ext cx="526694" cy="526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Safe.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0E7EF"/>
                </a:solidFill>
              </a:rPr>
              <a:t>Thank you — Task 2: Phishing Awareness Training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9496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E7EF"/>
                </a:solidFill>
              </a:rPr>
              <a:t>Muhammad Rizwan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0E7EF"/>
                </a:solidFill>
              </a:rPr>
              <a:t>Student ID: CA/DF1/172886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CodeAlpha Cyber Security Internship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Microsoft Office PowerPoint</Application>
  <PresentationFormat>Widescreen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Muhammad Rizwan</dc:creator>
  <cp:lastModifiedBy>Rizwan M</cp:lastModifiedBy>
  <cp:revision>1</cp:revision>
  <dcterms:created xsi:type="dcterms:W3CDTF">2026-07-03T04:21:27Z</dcterms:created>
  <dcterms:modified xsi:type="dcterms:W3CDTF">2026-07-03T04:38:44Z</dcterms:modified>
</cp:coreProperties>
</file>